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TengerTech Web App ??????? ??????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 ?????????? ????? ??????, role ??? ?????? ????????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600000" y="1840000"/>
            <a:ext cx="1300000" cy="360000"/>
          </a:xfrm>
          <a:prstGeom prst="roundRect">
            <a:avLst/>
          </a:prstGeom>
          <a:solidFill>
            <a:srgbClr val="EAF6EA"/>
          </a:solidFill>
          <a:ln w="12700">
            <a:solidFill>
              <a:srgbClr val="CFE8CF"/>
            </a:solidFill>
          </a:ln>
        </p:spPr>
        <p:txBody>
          <a:bodyPr wrap="square" lIns="120000" tIns="60000" rIns="120000" bIns="60000"/>
          <a:lstStyle/>
          <a:p>
            <a:jc val="ctr"/>
            <a:r>
              <a:rPr lang="mn-MN" sz="1250" dirty="0">
                <a:b/>
                <a:solidFill>
                  <a:srgbClr val="2E7D32"/>
                </a:solidFill>
              </a:rPr>
              <a:t>Dashboard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2020000" y="1840000"/>
            <a:ext cx="1300000" cy="360000"/>
          </a:xfrm>
          <a:prstGeom prst="roundRect">
            <a:avLst/>
          </a:prstGeom>
          <a:solidFill>
            <a:srgbClr val="EAF6EA"/>
          </a:solidFill>
          <a:ln w="12700">
            <a:solidFill>
              <a:srgbClr val="CFE8CF"/>
            </a:solidFill>
          </a:ln>
        </p:spPr>
        <p:txBody>
          <a:bodyPr wrap="square" lIns="120000" tIns="60000" rIns="120000" bIns="60000"/>
          <a:lstStyle/>
          <a:p>
            <a:jc val="ctr"/>
            <a:r>
              <a:rPr lang="mn-MN" sz="1250" dirty="0">
                <a:b/>
                <a:solidFill>
                  <a:srgbClr val="2E7D32"/>
                </a:solidFill>
              </a:rPr>
              <a:t>????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3440000" y="1840000"/>
            <a:ext cx="1300000" cy="360000"/>
          </a:xfrm>
          <a:prstGeom prst="roundRect">
            <a:avLst/>
          </a:prstGeom>
          <a:solidFill>
            <a:srgbClr val="EAF6EA"/>
          </a:solidFill>
          <a:ln w="12700">
            <a:solidFill>
              <a:srgbClr val="CFE8CF"/>
            </a:solidFill>
          </a:ln>
        </p:spPr>
        <p:txBody>
          <a:bodyPr wrap="square" lIns="120000" tIns="60000" rIns="120000" bIns="60000"/>
          <a:lstStyle/>
          <a:p>
            <a:jc val="ctr"/>
            <a:r>
              <a:rPr lang="mn-MN" sz="1250" dirty="0">
                <a:b/>
                <a:solidFill>
                  <a:srgbClr val="2E7D32"/>
                </a:solidFill>
              </a:rPr>
              <a:t>???????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4860000" y="1840000"/>
            <a:ext cx="1300000" cy="360000"/>
          </a:xfrm>
          <a:prstGeom prst="roundRect">
            <a:avLst/>
          </a:prstGeom>
          <a:solidFill>
            <a:srgbClr val="EAF6EA"/>
          </a:solidFill>
          <a:ln w="12700">
            <a:solidFill>
              <a:srgbClr val="CFE8CF"/>
            </a:solidFill>
          </a:ln>
        </p:spPr>
        <p:txBody>
          <a:bodyPr wrap="square" lIns="120000" tIns="60000" rIns="120000" bIns="60000"/>
          <a:lstStyle/>
          <a:p>
            <a:jc val="ctr"/>
            <a:r>
              <a:rPr lang="mn-MN" sz="1250" dirty="0">
                <a:b/>
                <a:solidFill>
                  <a:srgbClr val="2E7D32"/>
                </a:solidFill>
              </a:rPr>
              <a:t>??????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6280000" y="1840000"/>
            <a:ext cx="1300000" cy="360000"/>
          </a:xfrm>
          <a:prstGeom prst="roundRect">
            <a:avLst/>
          </a:prstGeom>
          <a:solidFill>
            <a:srgbClr val="EAF6EA"/>
          </a:solidFill>
          <a:ln w="12700">
            <a:solidFill>
              <a:srgbClr val="CFE8CF"/>
            </a:solidFill>
          </a:ln>
        </p:spPr>
        <p:txBody>
          <a:bodyPr wrap="square" lIns="120000" tIns="60000" rIns="120000" bIns="60000"/>
          <a:lstStyle/>
          <a:p>
            <a:jc val="ctr"/>
            <a:r>
              <a:rPr lang="mn-MN" sz="1250" dirty="0">
                <a:b/>
                <a:solidFill>
                  <a:srgbClr val="2E7D32"/>
                </a:solidFill>
              </a:rPr>
              <a:t>??????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7700000" y="1840000"/>
            <a:ext cx="1300000" cy="360000"/>
          </a:xfrm>
          <a:prstGeom prst="roundRect">
            <a:avLst/>
          </a:prstGeom>
          <a:solidFill>
            <a:srgbClr val="EAF6EA"/>
          </a:solidFill>
          <a:ln w="12700">
            <a:solidFill>
              <a:srgbClr val="CFE8CF"/>
            </a:solidFill>
          </a:ln>
        </p:spPr>
        <p:txBody>
          <a:bodyPr wrap="square" lIns="120000" tIns="60000" rIns="120000" bIns="60000"/>
          <a:lstStyle/>
          <a:p>
            <a:jc val="ctr"/>
            <a:r>
              <a:rPr lang="mn-MN" sz="1250" dirty="0">
                <a:b/>
                <a:solidFill>
                  <a:srgbClr val="2E7D32"/>
                </a:solidFill>
              </a:rPr>
              <a:t>????????</a:t>
            </a:r>
          </a:p>
        </p:txBody>
      </p:sp>
      <p:sp>
        <p:nvSpPr>
          <p:cNvPr id="32" name="Bullets"/>
          <p:cNvSpPr txBox="1"/>
          <p:nvPr/>
        </p:nvSpPr>
        <p:spPr>
          <a:xfrm>
            <a:off x="760000" y="2500000"/>
            <a:ext cx="10000000" cy="26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/>
          <a:lstStyle/>
          <a:p>
            <a:pPr marL="280000" indent="-180000">
              <a:buChar char="?"/>
              <a:buClr>
                <a:srgbClr val="2E7D32"/>
              </a:buClr>
            </a:pPr>
            <a:r>
              <a:rPr lang="mn-MN" sz="2000" dirty="0">
                <a:solidFill>
                  <a:srgbClr val="17231B"/>
                </a:solidFill>
              </a:rPr>
              <a:t>???? ???? ????????? ?????? ?????? ??????????? ??????? ???? 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2000" dirty="0">
                <a:solidFill>
                  <a:srgbClr val="17231B"/>
                </a:solidFill>
              </a:rPr>
              <a:t>?????? ???? ???????? ????? ???? ????, ????, ??????? ?????????.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2000" dirty="0">
                <a:solidFill>
                  <a:srgbClr val="17231B"/>
                </a:solidFill>
              </a:rPr>
              <a:t>Desktop ????? mobile ???? ???? ???????? ????????.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1. ??????? ?? ?????? ??????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 ????????? ???? login ??????? ????.</a:t>
            </a:r>
          </a:p>
        </p:txBody>
      </p:sp>
      <p:sp>
        <p:nvSpPr>
          <p:cNvPr id="26" name="Bullets"/>
          <p:cNvSpPr txBox="1"/>
          <p:nvPr/>
        </p:nvSpPr>
        <p:spPr>
          <a:xfrm>
            <a:off x="800000" y="1780000"/>
            <a:ext cx="10000000" cy="41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/>
          <a:lstStyle/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 ???: Odoo ???? ?????????? ???????????? login ????? 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 ??: ?????? ???????????? Odoo password. Test ??? admin password ??????? 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?????????? ????? role-??? ??????? sidebar/menu ?????????? ???????????.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Browser notification ????????? ??????? Allow ?????. Block ?????? ??? Chrome Site settings &gt; Notifications &gt; Allow ?????? refresh ?????.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2. Role ?? ???????? ?????? ??????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 ??? ?????/???? ????? ???</a:t>
            </a:r>
          </a:p>
        </p:txBody>
      </p:sp>
      <p:sp>
        <p:nvSpPr>
          <p:cNvPr id="26" name="Shape"/>
          <p:cNvSpPr/>
          <p:nvPr/>
        </p:nvSpPr>
        <p:spPr>
          <a:xfrm>
            <a:off x="520000" y="1750000"/>
            <a:ext cx="2600000" cy="56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7" name="TextBox"/>
          <p:cNvSpPr txBox="1"/>
          <p:nvPr/>
        </p:nvSpPr>
        <p:spPr>
          <a:xfrm>
            <a:off x="580000" y="1795000"/>
            <a:ext cx="24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350" dirty="0">
                <a:b/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28" name="Shape"/>
          <p:cNvSpPr/>
          <p:nvPr/>
        </p:nvSpPr>
        <p:spPr>
          <a:xfrm>
            <a:off x="3120000" y="1750000"/>
            <a:ext cx="3300000" cy="56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9" name="TextBox"/>
          <p:cNvSpPr txBox="1"/>
          <p:nvPr/>
        </p:nvSpPr>
        <p:spPr>
          <a:xfrm>
            <a:off x="3180000" y="1795000"/>
            <a:ext cx="31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350" dirty="0">
                <a:b/>
                <a:solidFill>
                  <a:srgbClr val="FFFFFF"/>
                </a:solidFill>
              </a:rPr>
              <a:t>????? ?????</a:t>
            </a:r>
          </a:p>
        </p:txBody>
      </p:sp>
      <p:sp>
        <p:nvSpPr>
          <p:cNvPr id="30" name="Shape"/>
          <p:cNvSpPr/>
          <p:nvPr/>
        </p:nvSpPr>
        <p:spPr>
          <a:xfrm>
            <a:off x="6420000" y="1750000"/>
            <a:ext cx="5200000" cy="56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31" name="TextBox"/>
          <p:cNvSpPr txBox="1"/>
          <p:nvPr/>
        </p:nvSpPr>
        <p:spPr>
          <a:xfrm>
            <a:off x="6480000" y="1795000"/>
            <a:ext cx="50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350" dirty="0">
                <a:b/>
                <a:solidFill>
                  <a:srgbClr val="FFFFFF"/>
                </a:solidFill>
              </a:rPr>
              <a:t>??? ??????</a:t>
            </a:r>
          </a:p>
        </p:txBody>
      </p:sp>
      <p:sp>
        <p:nvSpPr>
          <p:cNvPr id="32" name="Shape"/>
          <p:cNvSpPr/>
          <p:nvPr/>
        </p:nvSpPr>
        <p:spPr>
          <a:xfrm>
            <a:off x="520000" y="2310000"/>
            <a:ext cx="26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3" name="TextBox"/>
          <p:cNvSpPr txBox="1"/>
          <p:nvPr/>
        </p:nvSpPr>
        <p:spPr>
          <a:xfrm>
            <a:off x="580000" y="2355000"/>
            <a:ext cx="24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b/>
                <a:solidFill>
                  <a:srgbClr val="17231B"/>
                </a:solidFill>
              </a:rPr>
              <a:t>??????? / ??? ??????????? ???????</a:t>
            </a:r>
          </a:p>
        </p:txBody>
      </p:sp>
      <p:sp>
        <p:nvSpPr>
          <p:cNvPr id="34" name="Shape"/>
          <p:cNvSpPr/>
          <p:nvPr/>
        </p:nvSpPr>
        <p:spPr>
          <a:xfrm>
            <a:off x="3120000" y="2310000"/>
            <a:ext cx="33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5" name="TextBox"/>
          <p:cNvSpPr txBox="1"/>
          <p:nvPr/>
        </p:nvSpPr>
        <p:spPr>
          <a:xfrm>
            <a:off x="3180000" y="2355000"/>
            <a:ext cx="31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solidFill>
                  <a:srgbClr val="17231B"/>
                </a:solidFill>
              </a:rPr>
              <a:t>??? ???? ????</a:t>
            </a:r>
          </a:p>
        </p:txBody>
      </p:sp>
      <p:sp>
        <p:nvSpPr>
          <p:cNvPr id="36" name="Shape"/>
          <p:cNvSpPr/>
          <p:nvPr/>
        </p:nvSpPr>
        <p:spPr>
          <a:xfrm>
            <a:off x="6420000" y="2310000"/>
            <a:ext cx="52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7" name="TextBox"/>
          <p:cNvSpPr txBox="1"/>
          <p:nvPr/>
        </p:nvSpPr>
        <p:spPr>
          <a:xfrm>
            <a:off x="6480000" y="2355000"/>
            <a:ext cx="50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solidFill>
                  <a:srgbClr val="17231B"/>
                </a:solidFill>
              </a:rPr>
              <a:t>???? dashboard, ???? ??????, ??????, ?????????</a:t>
            </a:r>
          </a:p>
        </p:txBody>
      </p:sp>
      <p:sp>
        <p:nvSpPr>
          <p:cNvPr id="38" name="Shape"/>
          <p:cNvSpPr/>
          <p:nvPr/>
        </p:nvSpPr>
        <p:spPr>
          <a:xfrm>
            <a:off x="520000" y="2870000"/>
            <a:ext cx="26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9" name="TextBox"/>
          <p:cNvSpPr txBox="1"/>
          <p:nvPr/>
        </p:nvSpPr>
        <p:spPr>
          <a:xfrm>
            <a:off x="580000" y="2915000"/>
            <a:ext cx="24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b/>
                <a:solidFill>
                  <a:srgbClr val="17231B"/>
                </a:solidFill>
              </a:rPr>
              <a:t>???????? ?????</a:t>
            </a:r>
          </a:p>
        </p:txBody>
      </p:sp>
      <p:sp>
        <p:nvSpPr>
          <p:cNvPr id="40" name="Shape"/>
          <p:cNvSpPr/>
          <p:nvPr/>
        </p:nvSpPr>
        <p:spPr>
          <a:xfrm>
            <a:off x="3120000" y="2870000"/>
            <a:ext cx="33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1" name="TextBox"/>
          <p:cNvSpPr txBox="1"/>
          <p:nvPr/>
        </p:nvSpPr>
        <p:spPr>
          <a:xfrm>
            <a:off x="3180000" y="2915000"/>
            <a:ext cx="31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solidFill>
                  <a:srgbClr val="17231B"/>
                </a:solidFill>
              </a:rPr>
              <a:t>?????? ??????</a:t>
            </a:r>
          </a:p>
        </p:txBody>
      </p:sp>
      <p:sp>
        <p:nvSpPr>
          <p:cNvPr id="42" name="Shape"/>
          <p:cNvSpPr/>
          <p:nvPr/>
        </p:nvSpPr>
        <p:spPr>
          <a:xfrm>
            <a:off x="6420000" y="2870000"/>
            <a:ext cx="52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3" name="TextBox"/>
          <p:cNvSpPr txBox="1"/>
          <p:nvPr/>
        </p:nvSpPr>
        <p:spPr>
          <a:xfrm>
            <a:off x="6480000" y="2915000"/>
            <a:ext cx="50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solidFill>
                  <a:srgbClr val="17231B"/>
                </a:solidFill>
              </a:rPr>
              <a:t>????/??????? ??????, ?????, ?????? ?????</a:t>
            </a:r>
          </a:p>
        </p:txBody>
      </p:sp>
      <p:sp>
        <p:nvSpPr>
          <p:cNvPr id="44" name="Shape"/>
          <p:cNvSpPr/>
          <p:nvPr/>
        </p:nvSpPr>
        <p:spPr>
          <a:xfrm>
            <a:off x="520000" y="3430000"/>
            <a:ext cx="26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5" name="TextBox"/>
          <p:cNvSpPr txBox="1"/>
          <p:nvPr/>
        </p:nvSpPr>
        <p:spPr>
          <a:xfrm>
            <a:off x="580000" y="3475000"/>
            <a:ext cx="24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b/>
                <a:solidFill>
                  <a:srgbClr val="17231B"/>
                </a:solidFill>
              </a:rPr>
              <a:t>????? ?????? / ??????</a:t>
            </a:r>
          </a:p>
        </p:txBody>
      </p:sp>
      <p:sp>
        <p:nvSpPr>
          <p:cNvPr id="46" name="Shape"/>
          <p:cNvSpPr/>
          <p:nvPr/>
        </p:nvSpPr>
        <p:spPr>
          <a:xfrm>
            <a:off x="3120000" y="3430000"/>
            <a:ext cx="33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7" name="TextBox"/>
          <p:cNvSpPr txBox="1"/>
          <p:nvPr/>
        </p:nvSpPr>
        <p:spPr>
          <a:xfrm>
            <a:off x="3180000" y="3475000"/>
            <a:ext cx="31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solidFill>
                  <a:srgbClr val="17231B"/>
                </a:solidFill>
              </a:rPr>
              <a:t>?????? ???? ????, ???? ????????? ????</a:t>
            </a:r>
          </a:p>
        </p:txBody>
      </p:sp>
      <p:sp>
        <p:nvSpPr>
          <p:cNvPr id="48" name="Shape"/>
          <p:cNvSpPr/>
          <p:nvPr/>
        </p:nvSpPr>
        <p:spPr>
          <a:xfrm>
            <a:off x="6420000" y="3430000"/>
            <a:ext cx="52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9" name="TextBox"/>
          <p:cNvSpPr txBox="1"/>
          <p:nvPr/>
        </p:nvSpPr>
        <p:spPr>
          <a:xfrm>
            <a:off x="6480000" y="3475000"/>
            <a:ext cx="50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solidFill>
                  <a:srgbClr val="17231B"/>
                </a:solidFill>
              </a:rPr>
              <a:t>??????? ??????, ?????? ??????, ??? ???????</a:t>
            </a:r>
          </a:p>
        </p:txBody>
      </p:sp>
      <p:sp>
        <p:nvSpPr>
          <p:cNvPr id="50" name="Shape"/>
          <p:cNvSpPr/>
          <p:nvPr/>
        </p:nvSpPr>
        <p:spPr>
          <a:xfrm>
            <a:off x="520000" y="3990000"/>
            <a:ext cx="26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51" name="TextBox"/>
          <p:cNvSpPr txBox="1"/>
          <p:nvPr/>
        </p:nvSpPr>
        <p:spPr>
          <a:xfrm>
            <a:off x="580000" y="4035000"/>
            <a:ext cx="24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b/>
                <a:solidFill>
                  <a:srgbClr val="17231B"/>
                </a:solidFill>
              </a:rPr>
              <a:t>???????</a:t>
            </a:r>
          </a:p>
        </p:txBody>
      </p:sp>
      <p:sp>
        <p:nvSpPr>
          <p:cNvPr id="52" name="Shape"/>
          <p:cNvSpPr/>
          <p:nvPr/>
        </p:nvSpPr>
        <p:spPr>
          <a:xfrm>
            <a:off x="3120000" y="3990000"/>
            <a:ext cx="33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53" name="TextBox"/>
          <p:cNvSpPr txBox="1"/>
          <p:nvPr/>
        </p:nvSpPr>
        <p:spPr>
          <a:xfrm>
            <a:off x="3180000" y="4035000"/>
            <a:ext cx="31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solidFill>
                  <a:srgbClr val="17231B"/>
                </a:solidFill>
              </a:rPr>
              <a:t>???? ????????? ???????</a:t>
            </a:r>
          </a:p>
        </p:txBody>
      </p:sp>
      <p:sp>
        <p:nvSpPr>
          <p:cNvPr id="54" name="Shape"/>
          <p:cNvSpPr/>
          <p:nvPr/>
        </p:nvSpPr>
        <p:spPr>
          <a:xfrm>
            <a:off x="6420000" y="3990000"/>
            <a:ext cx="52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55" name="TextBox"/>
          <p:cNvSpPr txBox="1"/>
          <p:nvPr/>
        </p:nvSpPr>
        <p:spPr>
          <a:xfrm>
            <a:off x="6480000" y="4035000"/>
            <a:ext cx="50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solidFill>
                  <a:srgbClr val="17231B"/>
                </a:solidFill>
              </a:rPr>
              <a:t>?????? ??????, ?????/audio ?????????</a:t>
            </a:r>
          </a:p>
        </p:txBody>
      </p:sp>
      <p:sp>
        <p:nvSpPr>
          <p:cNvPr id="56" name="Shape"/>
          <p:cNvSpPr/>
          <p:nvPr/>
        </p:nvSpPr>
        <p:spPr>
          <a:xfrm>
            <a:off x="520000" y="4550000"/>
            <a:ext cx="26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57" name="TextBox"/>
          <p:cNvSpPr txBox="1"/>
          <p:nvPr/>
        </p:nvSpPr>
        <p:spPr>
          <a:xfrm>
            <a:off x="580000" y="4595000"/>
            <a:ext cx="24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b/>
                <a:solidFill>
                  <a:srgbClr val="17231B"/>
                </a:solidFill>
              </a:rPr>
              <a:t>????????? ?????</a:t>
            </a:r>
          </a:p>
        </p:txBody>
      </p:sp>
      <p:sp>
        <p:nvSpPr>
          <p:cNvPr id="58" name="Shape"/>
          <p:cNvSpPr/>
          <p:nvPr/>
        </p:nvSpPr>
        <p:spPr>
          <a:xfrm>
            <a:off x="3120000" y="4550000"/>
            <a:ext cx="33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59" name="TextBox"/>
          <p:cNvSpPr txBox="1"/>
          <p:nvPr/>
        </p:nvSpPr>
        <p:spPr>
          <a:xfrm>
            <a:off x="3180000" y="4595000"/>
            <a:ext cx="31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solidFill>
                  <a:srgbClr val="17231B"/>
                </a:solidFill>
              </a:rPr>
              <a:t>????????? ??? ?????</a:t>
            </a:r>
          </a:p>
        </p:txBody>
      </p:sp>
      <p:sp>
        <p:nvSpPr>
          <p:cNvPr id="60" name="Shape"/>
          <p:cNvSpPr/>
          <p:nvPr/>
        </p:nvSpPr>
        <p:spPr>
          <a:xfrm>
            <a:off x="6420000" y="4550000"/>
            <a:ext cx="52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61" name="TextBox"/>
          <p:cNvSpPr txBox="1"/>
          <p:nvPr/>
        </p:nvSpPr>
        <p:spPr>
          <a:xfrm>
            <a:off x="6480000" y="4595000"/>
            <a:ext cx="50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120" dirty="0">
                <a:solidFill>
                  <a:srgbClr val="17231B"/>
                </a:solidFill>
              </a:rPr>
              <a:t>????????, ?????????, ????????? ???????</a:t>
            </a:r>
          </a:p>
        </p:txBody>
      </p:sp>
      <p:sp>
        <p:nvSpPr>
          <p:cNvPr id="62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3. ??????? / ??? ??????????? ???????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 ???????????? ??????? ??????.</a:t>
            </a:r>
          </a:p>
        </p:txBody>
      </p:sp>
      <p:sp>
        <p:nvSpPr>
          <p:cNvPr id="26" name="Shape"/>
          <p:cNvSpPr/>
          <p:nvPr/>
        </p:nvSpPr>
        <p:spPr>
          <a:xfrm>
            <a:off x="560000" y="1850000"/>
            <a:ext cx="3400000" cy="3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27" name="TextBox"/>
          <p:cNvSpPr txBox="1"/>
          <p:nvPr/>
        </p:nvSpPr>
        <p:spPr>
          <a:xfrm>
            <a:off x="740000" y="2040000"/>
            <a:ext cx="3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900" dirty="0">
                <a:b/>
                <a:solidFill>
                  <a:srgbClr val="2E7D32"/>
                </a:solidFill>
              </a:rPr>
              <a:t>?????</a:t>
            </a:r>
          </a:p>
        </p:txBody>
      </p:sp>
      <p:sp>
        <p:nvSpPr>
          <p:cNvPr id="28" name="Bullets"/>
          <p:cNvSpPr txBox="1"/>
          <p:nvPr/>
        </p:nvSpPr>
        <p:spPr>
          <a:xfrm>
            <a:off x="740000" y="2520000"/>
            <a:ext cx="3000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/>
          <a:lstStyle/>
          <a:p>
            <a:pPr marL="280000" indent="-180000">
              <a:buChar char="?"/>
              <a:buClr>
                <a:srgbClr val="2E7D32"/>
              </a:buClr>
            </a:pPr>
            <a:r>
              <a:rPr lang="mn-MN" sz="1450" dirty="0">
                <a:solidFill>
                  <a:srgbClr val="17231B"/>
                </a:solidFill>
              </a:rPr>
              <a:t>??? ???? ??????? ????? ??????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450" dirty="0">
                <a:solidFill>
                  <a:srgbClr val="17231B"/>
                </a:solidFill>
              </a:rPr>
              <a:t>??????? ????????, ????? ????, ???? ???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450" dirty="0">
                <a:solidFill>
                  <a:srgbClr val="17231B"/>
                </a:solidFill>
              </a:rPr>
              <a:t>?????? ?????????, ??? ????????????? ???</a:t>
            </a:r>
          </a:p>
        </p:txBody>
      </p:sp>
      <p:sp>
        <p:nvSpPr>
          <p:cNvPr id="29" name="Shape"/>
          <p:cNvSpPr/>
          <p:nvPr/>
        </p:nvSpPr>
        <p:spPr>
          <a:xfrm>
            <a:off x="4260000" y="1850000"/>
            <a:ext cx="3400000" cy="3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0" name="TextBox"/>
          <p:cNvSpPr txBox="1"/>
          <p:nvPr/>
        </p:nvSpPr>
        <p:spPr>
          <a:xfrm>
            <a:off x="4440000" y="2040000"/>
            <a:ext cx="3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900" dirty="0">
                <a:b/>
                <a:solidFill>
                  <a:srgbClr val="2E7D32"/>
                </a:solidFill>
              </a:rPr>
              <a:t>????</a:t>
            </a:r>
          </a:p>
        </p:txBody>
      </p:sp>
      <p:sp>
        <p:nvSpPr>
          <p:cNvPr id="31" name="Bullets"/>
          <p:cNvSpPr txBox="1"/>
          <p:nvPr/>
        </p:nvSpPr>
        <p:spPr>
          <a:xfrm>
            <a:off x="4440000" y="2520000"/>
            <a:ext cx="3000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/>
          <a:lstStyle/>
          <a:p>
            <a:pPr marL="280000" indent="-180000">
              <a:buChar char="?"/>
              <a:buClr>
                <a:srgbClr val="2E7D32"/>
              </a:buClr>
            </a:pPr>
            <a:r>
              <a:rPr lang="mn-MN" sz="1450" dirty="0">
                <a:solidFill>
                  <a:srgbClr val="17231B"/>
                </a:solidFill>
              </a:rPr>
              <a:t>???? ???? ??????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450" dirty="0">
                <a:solidFill>
                  <a:srgbClr val="17231B"/>
                </a:solidFill>
              </a:rPr>
              <a:t>????? ??????/??????????? ?????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450" dirty="0">
                <a:solidFill>
                  <a:srgbClr val="17231B"/>
                </a:solidFill>
              </a:rPr>
              <a:t>?????? ???? ????? ??????? ?????? ??????????????</a:t>
            </a:r>
          </a:p>
        </p:txBody>
      </p:sp>
      <p:sp>
        <p:nvSpPr>
          <p:cNvPr id="32" name="Shape"/>
          <p:cNvSpPr/>
          <p:nvPr/>
        </p:nvSpPr>
        <p:spPr>
          <a:xfrm>
            <a:off x="7960000" y="1850000"/>
            <a:ext cx="3400000" cy="3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3" name="TextBox"/>
          <p:cNvSpPr txBox="1"/>
          <p:nvPr/>
        </p:nvSpPr>
        <p:spPr>
          <a:xfrm>
            <a:off x="8140000" y="2040000"/>
            <a:ext cx="3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900" dirty="0">
                <a:b/>
                <a:solidFill>
                  <a:srgbClr val="2E7D32"/>
                </a:solidFill>
              </a:rPr>
              <a:t>????????</a:t>
            </a:r>
          </a:p>
        </p:txBody>
      </p:sp>
      <p:sp>
        <p:nvSpPr>
          <p:cNvPr id="34" name="Bullets"/>
          <p:cNvSpPr txBox="1"/>
          <p:nvPr/>
        </p:nvSpPr>
        <p:spPr>
          <a:xfrm>
            <a:off x="8140000" y="2520000"/>
            <a:ext cx="3000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/>
          <a:lstStyle/>
          <a:p>
            <a:pPr marL="280000" indent="-180000">
              <a:buChar char="?"/>
              <a:buClr>
                <a:srgbClr val="2E7D32"/>
              </a:buClr>
            </a:pPr>
            <a:r>
              <a:rPr lang="mn-MN" sz="1450" dirty="0">
                <a:solidFill>
                  <a:srgbClr val="17231B"/>
                </a:solidFill>
              </a:rPr>
              <a:t>????? role-??? ????? ??? ?????????????? ??????? ??????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450" dirty="0">
                <a:solidFill>
                  <a:srgbClr val="17231B"/>
                </a:solidFill>
              </a:rPr>
              <a:t>Notification ???? ???? ????/????? ???? ??? ?????? ??????? ??????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4. ???????? ?????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?????? ?????? ???????? ????, ????? ????, ?????? ?????????.</a:t>
            </a:r>
          </a:p>
        </p:txBody>
      </p:sp>
      <p:sp>
        <p:nvSpPr>
          <p:cNvPr id="26" name="Bullets"/>
          <p:cNvSpPr txBox="1"/>
          <p:nvPr/>
        </p:nvSpPr>
        <p:spPr>
          <a:xfrm>
            <a:off x="800000" y="1780000"/>
            <a:ext cx="10000000" cy="41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/>
          <a:lstStyle/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Sidebar ???? ?????? ?????? ????? ????????????? ??????? ?????????.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 ???? ????? ??????? ?????? 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???????? ???????????? ??????, ???, ???????? ???????? 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 ???? ????? ???? ?????? ?????? ???????? ?????? ???????? 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 ???????? ????/????? ???????? ????????? access issue ??? ??????????.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5. ????? ?????? / ??????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?????? ??????? ???? ?????? ????? ????????.</a:t>
            </a:r>
          </a:p>
        </p:txBody>
      </p:sp>
      <p:sp>
        <p:nvSpPr>
          <p:cNvPr id="26" name="Bullets"/>
          <p:cNvSpPr txBox="1"/>
          <p:nvPr/>
        </p:nvSpPr>
        <p:spPr>
          <a:xfrm>
            <a:off x="800000" y="1780000"/>
            <a:ext cx="10000000" cy="41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/>
          <a:lstStyle/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????????? ????? ????? ??????????? ?????? ???? ??????? ???????? 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 ?????? ????? ????? ???? ??????? 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???, ???????? ???, ?????/??????? ???????????? ??? 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 ??????, ???????????? ??? ?????? ??? ?????????.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???????? ?????? ??? ??????, ?????? ????????? ???????.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6. ??????? / Mobile ?????????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???? ????????? ??????? ???? ?????? ?????? ??????.</a:t>
            </a:r>
          </a:p>
        </p:txBody>
      </p:sp>
      <p:sp>
        <p:nvSpPr>
          <p:cNvPr id="26" name="Bullets"/>
          <p:cNvSpPr txBox="1"/>
          <p:nvPr/>
        </p:nvSpPr>
        <p:spPr>
          <a:xfrm>
            <a:off x="800000" y="1780000"/>
            <a:ext cx="10000000" cy="41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/>
          <a:lstStyle/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???????? ?????? ???? ????????? ????/??????? ?????????.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???????? ???? ???? ???? ????? ??????? 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 ??? ??? ??????? ???????? 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???????, ??????/???, ?????, audio ????? ???????????? ????????? ??????????.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????????? ????? ??????? ?????? ?????? ??? ?????? ???????.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7. ???? ???? ??????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???????, ???????? ?????, ?????? ?????? ????????? ????????.</a:t>
            </a:r>
          </a:p>
        </p:txBody>
      </p:sp>
      <p:sp>
        <p:nvSpPr>
          <p:cNvPr id="26" name="Shape"/>
          <p:cNvSpPr/>
          <p:nvPr/>
        </p:nvSpPr>
        <p:spPr>
          <a:xfrm>
            <a:off x="720000" y="1780000"/>
            <a:ext cx="500000" cy="5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7" name="TextBox"/>
          <p:cNvSpPr txBox="1"/>
          <p:nvPr/>
        </p:nvSpPr>
        <p:spPr>
          <a:xfrm>
            <a:off x="820000" y="185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Shape"/>
          <p:cNvSpPr/>
          <p:nvPr/>
        </p:nvSpPr>
        <p:spPr>
          <a:xfrm>
            <a:off x="1350000" y="178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29" name="TextBox"/>
          <p:cNvSpPr txBox="1"/>
          <p:nvPr/>
        </p:nvSpPr>
        <p:spPr>
          <a:xfrm>
            <a:off x="1500000" y="183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b/>
                <a:solidFill>
                  <a:srgbClr val="17231B"/>
                </a:solidFill>
              </a:rPr>
              <a:t>Sidebar ????? mobile dock ???? ????? ????? ?????.</a:t>
            </a:r>
          </a:p>
        </p:txBody>
      </p:sp>
      <p:sp>
        <p:nvSpPr>
          <p:cNvPr id="30" name="Shape"/>
          <p:cNvSpPr/>
          <p:nvPr/>
        </p:nvSpPr>
        <p:spPr>
          <a:xfrm>
            <a:off x="720000" y="2370000"/>
            <a:ext cx="500000" cy="500000"/>
          </a:xfrm>
          <a:prstGeom prst="roundRect">
            <a:avLst/>
          </a:prstGeom>
          <a:solidFill>
            <a:srgbClr val="4C9E5C"/>
          </a:solidFill>
          <a:ln w="12700">
            <a:solidFill>
              <a:srgbClr val="4C9E5C"/>
            </a:solidFill>
          </a:ln>
        </p:spPr>
        <p:txBody>
          <a:bodyPr/>
          <a:lstStyle/>
          <a:p/>
        </p:txBody>
      </p:sp>
      <p:sp>
        <p:nvSpPr>
          <p:cNvPr id="31" name="TextBox"/>
          <p:cNvSpPr txBox="1"/>
          <p:nvPr/>
        </p:nvSpPr>
        <p:spPr>
          <a:xfrm>
            <a:off x="820000" y="244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Shape"/>
          <p:cNvSpPr/>
          <p:nvPr/>
        </p:nvSpPr>
        <p:spPr>
          <a:xfrm>
            <a:off x="1350000" y="237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3" name="TextBox"/>
          <p:cNvSpPr txBox="1"/>
          <p:nvPr/>
        </p:nvSpPr>
        <p:spPr>
          <a:xfrm>
            <a:off x="1500000" y="242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 ?????? ???????.</a:t>
            </a:r>
          </a:p>
        </p:txBody>
      </p:sp>
      <p:sp>
        <p:nvSpPr>
          <p:cNvPr id="34" name="Shape"/>
          <p:cNvSpPr/>
          <p:nvPr/>
        </p:nvSpPr>
        <p:spPr>
          <a:xfrm>
            <a:off x="720000" y="2960000"/>
            <a:ext cx="500000" cy="5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35" name="TextBox"/>
          <p:cNvSpPr txBox="1"/>
          <p:nvPr/>
        </p:nvSpPr>
        <p:spPr>
          <a:xfrm>
            <a:off x="820000" y="303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Shape"/>
          <p:cNvSpPr/>
          <p:nvPr/>
        </p:nvSpPr>
        <p:spPr>
          <a:xfrm>
            <a:off x="1350000" y="296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7" name="TextBox"/>
          <p:cNvSpPr txBox="1"/>
          <p:nvPr/>
        </p:nvSpPr>
        <p:spPr>
          <a:xfrm>
            <a:off x="1500000" y="301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?????? ???????. ???????? ?????/?????? ???? ?????? ?????????? ????????? ?????.</a:t>
            </a:r>
          </a:p>
        </p:txBody>
      </p:sp>
      <p:sp>
        <p:nvSpPr>
          <p:cNvPr id="38" name="Shape"/>
          <p:cNvSpPr/>
          <p:nvPr/>
        </p:nvSpPr>
        <p:spPr>
          <a:xfrm>
            <a:off x="720000" y="3550000"/>
            <a:ext cx="500000" cy="500000"/>
          </a:xfrm>
          <a:prstGeom prst="roundRect">
            <a:avLst/>
          </a:prstGeom>
          <a:solidFill>
            <a:srgbClr val="4C9E5C"/>
          </a:solidFill>
          <a:ln w="12700">
            <a:solidFill>
              <a:srgbClr val="4C9E5C"/>
            </a:solidFill>
          </a:ln>
        </p:spPr>
        <p:txBody>
          <a:bodyPr/>
          <a:lstStyle/>
          <a:p/>
        </p:txBody>
      </p:sp>
      <p:sp>
        <p:nvSpPr>
          <p:cNvPr id="39" name="TextBox"/>
          <p:cNvSpPr txBox="1"/>
          <p:nvPr/>
        </p:nvSpPr>
        <p:spPr>
          <a:xfrm>
            <a:off x="820000" y="362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Shape"/>
          <p:cNvSpPr/>
          <p:nvPr/>
        </p:nvSpPr>
        <p:spPr>
          <a:xfrm>
            <a:off x="1350000" y="355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1" name="TextBox"/>
          <p:cNvSpPr txBox="1"/>
          <p:nvPr/>
        </p:nvSpPr>
        <p:spPr>
          <a:xfrm>
            <a:off x="1500000" y="360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??????? ???? ??? ???, ?????????, ?????, ?????/?????? ????? ???????.</a:t>
            </a:r>
          </a:p>
        </p:txBody>
      </p:sp>
      <p:sp>
        <p:nvSpPr>
          <p:cNvPr id="42" name="Shape"/>
          <p:cNvSpPr/>
          <p:nvPr/>
        </p:nvSpPr>
        <p:spPr>
          <a:xfrm>
            <a:off x="720000" y="4140000"/>
            <a:ext cx="500000" cy="5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43" name="TextBox"/>
          <p:cNvSpPr txBox="1"/>
          <p:nvPr/>
        </p:nvSpPr>
        <p:spPr>
          <a:xfrm>
            <a:off x="820000" y="421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Shape"/>
          <p:cNvSpPr/>
          <p:nvPr/>
        </p:nvSpPr>
        <p:spPr>
          <a:xfrm>
            <a:off x="1350000" y="414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5" name="TextBox"/>
          <p:cNvSpPr txBox="1"/>
          <p:nvPr/>
        </p:nvSpPr>
        <p:spPr>
          <a:xfrm>
            <a:off x="1500000" y="419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 ?????????? ??? ?????, ???????, ????? ???????.</a:t>
            </a:r>
          </a:p>
        </p:txBody>
      </p:sp>
      <p:sp>
        <p:nvSpPr>
          <p:cNvPr id="46" name="Shape"/>
          <p:cNvSpPr/>
          <p:nvPr/>
        </p:nvSpPr>
        <p:spPr>
          <a:xfrm>
            <a:off x="720000" y="4730000"/>
            <a:ext cx="500000" cy="500000"/>
          </a:xfrm>
          <a:prstGeom prst="roundRect">
            <a:avLst/>
          </a:prstGeom>
          <a:solidFill>
            <a:srgbClr val="4C9E5C"/>
          </a:solidFill>
          <a:ln w="12700">
            <a:solidFill>
              <a:srgbClr val="4C9E5C"/>
            </a:solidFill>
          </a:ln>
        </p:spPr>
        <p:txBody>
          <a:bodyPr/>
          <a:lstStyle/>
          <a:p/>
        </p:txBody>
      </p:sp>
      <p:sp>
        <p:nvSpPr>
          <p:cNvPr id="47" name="TextBox"/>
          <p:cNvSpPr txBox="1"/>
          <p:nvPr/>
        </p:nvSpPr>
        <p:spPr>
          <a:xfrm>
            <a:off x="820000" y="480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Shape"/>
          <p:cNvSpPr/>
          <p:nvPr/>
        </p:nvSpPr>
        <p:spPr>
          <a:xfrm>
            <a:off x="1350000" y="473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9" name="TextBox"/>
          <p:cNvSpPr txBox="1"/>
          <p:nvPr/>
        </p:nvSpPr>
        <p:spPr>
          <a:xfrm>
            <a:off x="1500000" y="478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 ??????? ???? Odoo ??? ????????.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8. ??????? ??????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???? ?????? ???? ?????? ????????? task.</a:t>
            </a:r>
          </a:p>
        </p:txBody>
      </p:sp>
      <p:sp>
        <p:nvSpPr>
          <p:cNvPr id="26" name="Shape"/>
          <p:cNvSpPr/>
          <p:nvPr/>
        </p:nvSpPr>
        <p:spPr>
          <a:xfrm>
            <a:off x="720000" y="1780000"/>
            <a:ext cx="500000" cy="5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7" name="TextBox"/>
          <p:cNvSpPr txBox="1"/>
          <p:nvPr/>
        </p:nvSpPr>
        <p:spPr>
          <a:xfrm>
            <a:off x="820000" y="185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Shape"/>
          <p:cNvSpPr/>
          <p:nvPr/>
        </p:nvSpPr>
        <p:spPr>
          <a:xfrm>
            <a:off x="1350000" y="178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29" name="TextBox"/>
          <p:cNvSpPr txBox="1"/>
          <p:nvPr/>
        </p:nvSpPr>
        <p:spPr>
          <a:xfrm>
            <a:off x="1500000" y="183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b/>
                <a:solidFill>
                  <a:srgbClr val="17231B"/>
                </a:solidFill>
              </a:rPr>
              <a:t>????? ???????? ????? ????????? ??????? ?????? ????? ?????.</a:t>
            </a:r>
          </a:p>
        </p:txBody>
      </p:sp>
      <p:sp>
        <p:nvSpPr>
          <p:cNvPr id="30" name="Shape"/>
          <p:cNvSpPr/>
          <p:nvPr/>
        </p:nvSpPr>
        <p:spPr>
          <a:xfrm>
            <a:off x="720000" y="2370000"/>
            <a:ext cx="500000" cy="500000"/>
          </a:xfrm>
          <a:prstGeom prst="roundRect">
            <a:avLst/>
          </a:prstGeom>
          <a:solidFill>
            <a:srgbClr val="4C9E5C"/>
          </a:solidFill>
          <a:ln w="12700">
            <a:solidFill>
              <a:srgbClr val="4C9E5C"/>
            </a:solidFill>
          </a:ln>
        </p:spPr>
        <p:txBody>
          <a:bodyPr/>
          <a:lstStyle/>
          <a:p/>
        </p:txBody>
      </p:sp>
      <p:sp>
        <p:nvSpPr>
          <p:cNvPr id="31" name="TextBox"/>
          <p:cNvSpPr txBox="1"/>
          <p:nvPr/>
        </p:nvSpPr>
        <p:spPr>
          <a:xfrm>
            <a:off x="820000" y="244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Shape"/>
          <p:cNvSpPr/>
          <p:nvPr/>
        </p:nvSpPr>
        <p:spPr>
          <a:xfrm>
            <a:off x="1350000" y="237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3" name="TextBox"/>
          <p:cNvSpPr txBox="1"/>
          <p:nvPr/>
        </p:nvSpPr>
        <p:spPr>
          <a:xfrm>
            <a:off x="1500000" y="242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???????? ?????? / ?????????? ???? ?????? ???? ?????.</a:t>
            </a:r>
          </a:p>
        </p:txBody>
      </p:sp>
      <p:sp>
        <p:nvSpPr>
          <p:cNvPr id="34" name="Shape"/>
          <p:cNvSpPr/>
          <p:nvPr/>
        </p:nvSpPr>
        <p:spPr>
          <a:xfrm>
            <a:off x="720000" y="2960000"/>
            <a:ext cx="500000" cy="5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35" name="TextBox"/>
          <p:cNvSpPr txBox="1"/>
          <p:nvPr/>
        </p:nvSpPr>
        <p:spPr>
          <a:xfrm>
            <a:off x="820000" y="303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Shape"/>
          <p:cNvSpPr/>
          <p:nvPr/>
        </p:nvSpPr>
        <p:spPr>
          <a:xfrm>
            <a:off x="1350000" y="296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7" name="TextBox"/>
          <p:cNvSpPr txBox="1"/>
          <p:nvPr/>
        </p:nvSpPr>
        <p:spPr>
          <a:xfrm>
            <a:off x="1500000" y="301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????????? ???, ?????, ????????? ???, ??? ???????.</a:t>
            </a:r>
          </a:p>
        </p:txBody>
      </p:sp>
      <p:sp>
        <p:nvSpPr>
          <p:cNvPr id="38" name="Shape"/>
          <p:cNvSpPr/>
          <p:nvPr/>
        </p:nvSpPr>
        <p:spPr>
          <a:xfrm>
            <a:off x="720000" y="3550000"/>
            <a:ext cx="500000" cy="500000"/>
          </a:xfrm>
          <a:prstGeom prst="roundRect">
            <a:avLst/>
          </a:prstGeom>
          <a:solidFill>
            <a:srgbClr val="4C9E5C"/>
          </a:solidFill>
          <a:ln w="12700">
            <a:solidFill>
              <a:srgbClr val="4C9E5C"/>
            </a:solidFill>
          </a:ln>
        </p:spPr>
        <p:txBody>
          <a:bodyPr/>
          <a:lstStyle/>
          <a:p/>
        </p:txBody>
      </p:sp>
      <p:sp>
        <p:nvSpPr>
          <p:cNvPr id="39" name="TextBox"/>
          <p:cNvSpPr txBox="1"/>
          <p:nvPr/>
        </p:nvSpPr>
        <p:spPr>
          <a:xfrm>
            <a:off x="820000" y="362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Shape"/>
          <p:cNvSpPr/>
          <p:nvPr/>
        </p:nvSpPr>
        <p:spPr>
          <a:xfrm>
            <a:off x="1350000" y="355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1" name="TextBox"/>
          <p:cNvSpPr txBox="1"/>
          <p:nvPr/>
        </p:nvSpPr>
        <p:spPr>
          <a:xfrm>
            <a:off x="1500000" y="360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 ?????????? ???? ???????/?????/??? ?????????? ????????? ?????????.</a:t>
            </a:r>
          </a:p>
        </p:txBody>
      </p:sp>
      <p:sp>
        <p:nvSpPr>
          <p:cNvPr id="42" name="Shape"/>
          <p:cNvSpPr/>
          <p:nvPr/>
        </p:nvSpPr>
        <p:spPr>
          <a:xfrm>
            <a:off x="720000" y="4140000"/>
            <a:ext cx="500000" cy="5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43" name="TextBox"/>
          <p:cNvSpPr txBox="1"/>
          <p:nvPr/>
        </p:nvSpPr>
        <p:spPr>
          <a:xfrm>
            <a:off x="820000" y="421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Shape"/>
          <p:cNvSpPr/>
          <p:nvPr/>
        </p:nvSpPr>
        <p:spPr>
          <a:xfrm>
            <a:off x="1350000" y="414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5" name="TextBox"/>
          <p:cNvSpPr txBox="1"/>
          <p:nvPr/>
        </p:nvSpPr>
        <p:spPr>
          <a:xfrm>
            <a:off x="1500000" y="419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????????? ????? ????????? ??? ???? notification ???? ?????.</a:t>
            </a:r>
          </a:p>
        </p:txBody>
      </p:sp>
      <p:sp>
        <p:nvSpPr>
          <p:cNvPr id="46" name="Shape"/>
          <p:cNvSpPr/>
          <p:nvPr/>
        </p:nvSpPr>
        <p:spPr>
          <a:xfrm>
            <a:off x="720000" y="4730000"/>
            <a:ext cx="500000" cy="500000"/>
          </a:xfrm>
          <a:prstGeom prst="roundRect">
            <a:avLst/>
          </a:prstGeom>
          <a:solidFill>
            <a:srgbClr val="4C9E5C"/>
          </a:solidFill>
          <a:ln w="12700">
            <a:solidFill>
              <a:srgbClr val="4C9E5C"/>
            </a:solidFill>
          </a:ln>
        </p:spPr>
        <p:txBody>
          <a:bodyPr/>
          <a:lstStyle/>
          <a:p/>
        </p:txBody>
      </p:sp>
      <p:sp>
        <p:nvSpPr>
          <p:cNvPr id="47" name="TextBox"/>
          <p:cNvSpPr txBox="1"/>
          <p:nvPr/>
        </p:nvSpPr>
        <p:spPr>
          <a:xfrm>
            <a:off x="820000" y="480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Shape"/>
          <p:cNvSpPr/>
          <p:nvPr/>
        </p:nvSpPr>
        <p:spPr>
          <a:xfrm>
            <a:off x="1350000" y="473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9" name="TextBox"/>
          <p:cNvSpPr txBox="1"/>
          <p:nvPr/>
        </p:nvSpPr>
        <p:spPr>
          <a:xfrm>
            <a:off x="1500000" y="478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??????? detail ??? ??? ???????? ??? ???????????? ??????? ???????.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9. ?????? ???????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???????, ??????, ???????? ????? ??????? ?????.</a:t>
            </a:r>
          </a:p>
        </p:txBody>
      </p:sp>
      <p:sp>
        <p:nvSpPr>
          <p:cNvPr id="26" name="Shape"/>
          <p:cNvSpPr/>
          <p:nvPr/>
        </p:nvSpPr>
        <p:spPr>
          <a:xfrm>
            <a:off x="720000" y="1780000"/>
            <a:ext cx="500000" cy="5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7" name="TextBox"/>
          <p:cNvSpPr txBox="1"/>
          <p:nvPr/>
        </p:nvSpPr>
        <p:spPr>
          <a:xfrm>
            <a:off x="820000" y="185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Shape"/>
          <p:cNvSpPr/>
          <p:nvPr/>
        </p:nvSpPr>
        <p:spPr>
          <a:xfrm>
            <a:off x="1350000" y="178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29" name="TextBox"/>
          <p:cNvSpPr txBox="1"/>
          <p:nvPr/>
        </p:nvSpPr>
        <p:spPr>
          <a:xfrm>
            <a:off x="1500000" y="183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b/>
                <a:solidFill>
                  <a:srgbClr val="17231B"/>
                </a:solidFill>
              </a:rPr>
              <a:t>?????? ??????? ???? ????.</a:t>
            </a:r>
          </a:p>
        </p:txBody>
      </p:sp>
      <p:sp>
        <p:nvSpPr>
          <p:cNvPr id="30" name="Shape"/>
          <p:cNvSpPr/>
          <p:nvPr/>
        </p:nvSpPr>
        <p:spPr>
          <a:xfrm>
            <a:off x="720000" y="2370000"/>
            <a:ext cx="500000" cy="500000"/>
          </a:xfrm>
          <a:prstGeom prst="roundRect">
            <a:avLst/>
          </a:prstGeom>
          <a:solidFill>
            <a:srgbClr val="4C9E5C"/>
          </a:solidFill>
          <a:ln w="12700">
            <a:solidFill>
              <a:srgbClr val="4C9E5C"/>
            </a:solidFill>
          </a:ln>
        </p:spPr>
        <p:txBody>
          <a:bodyPr/>
          <a:lstStyle/>
          <a:p/>
        </p:txBody>
      </p:sp>
      <p:sp>
        <p:nvSpPr>
          <p:cNvPr id="31" name="TextBox"/>
          <p:cNvSpPr txBox="1"/>
          <p:nvPr/>
        </p:nvSpPr>
        <p:spPr>
          <a:xfrm>
            <a:off x="820000" y="244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Shape"/>
          <p:cNvSpPr/>
          <p:nvPr/>
        </p:nvSpPr>
        <p:spPr>
          <a:xfrm>
            <a:off x="1350000" y="237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3" name="TextBox"/>
          <p:cNvSpPr txBox="1"/>
          <p:nvPr/>
        </p:nvSpPr>
        <p:spPr>
          <a:xfrm>
            <a:off x="1500000" y="242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??????? ???????? ???? ?????.</a:t>
            </a:r>
          </a:p>
        </p:txBody>
      </p:sp>
      <p:sp>
        <p:nvSpPr>
          <p:cNvPr id="34" name="Shape"/>
          <p:cNvSpPr/>
          <p:nvPr/>
        </p:nvSpPr>
        <p:spPr>
          <a:xfrm>
            <a:off x="720000" y="2960000"/>
            <a:ext cx="500000" cy="5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35" name="TextBox"/>
          <p:cNvSpPr txBox="1"/>
          <p:nvPr/>
        </p:nvSpPr>
        <p:spPr>
          <a:xfrm>
            <a:off x="820000" y="303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Shape"/>
          <p:cNvSpPr/>
          <p:nvPr/>
        </p:nvSpPr>
        <p:spPr>
          <a:xfrm>
            <a:off x="1350000" y="296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7" name="TextBox"/>
          <p:cNvSpPr txBox="1"/>
          <p:nvPr/>
        </p:nvSpPr>
        <p:spPr>
          <a:xfrm>
            <a:off x="1500000" y="301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???????????? ???????, ????, ??????, ???/???? ????? ???????????? ?????????? ???????.</a:t>
            </a:r>
          </a:p>
        </p:txBody>
      </p:sp>
      <p:sp>
        <p:nvSpPr>
          <p:cNvPr id="38" name="Shape"/>
          <p:cNvSpPr/>
          <p:nvPr/>
        </p:nvSpPr>
        <p:spPr>
          <a:xfrm>
            <a:off x="720000" y="3550000"/>
            <a:ext cx="500000" cy="500000"/>
          </a:xfrm>
          <a:prstGeom prst="roundRect">
            <a:avLst/>
          </a:prstGeom>
          <a:solidFill>
            <a:srgbClr val="4C9E5C"/>
          </a:solidFill>
          <a:ln w="12700">
            <a:solidFill>
              <a:srgbClr val="4C9E5C"/>
            </a:solidFill>
          </a:ln>
        </p:spPr>
        <p:txBody>
          <a:bodyPr/>
          <a:lstStyle/>
          <a:p/>
        </p:txBody>
      </p:sp>
      <p:sp>
        <p:nvSpPr>
          <p:cNvPr id="39" name="TextBox"/>
          <p:cNvSpPr txBox="1"/>
          <p:nvPr/>
        </p:nvSpPr>
        <p:spPr>
          <a:xfrm>
            <a:off x="820000" y="362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Shape"/>
          <p:cNvSpPr/>
          <p:nvPr/>
        </p:nvSpPr>
        <p:spPr>
          <a:xfrm>
            <a:off x="1350000" y="355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1" name="TextBox"/>
          <p:cNvSpPr txBox="1"/>
          <p:nvPr/>
        </p:nvSpPr>
        <p:spPr>
          <a:xfrm>
            <a:off x="1500000" y="360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 ????? audio ????????? ?????.</a:t>
            </a:r>
          </a:p>
        </p:txBody>
      </p:sp>
      <p:sp>
        <p:nvSpPr>
          <p:cNvPr id="42" name="Shape"/>
          <p:cNvSpPr/>
          <p:nvPr/>
        </p:nvSpPr>
        <p:spPr>
          <a:xfrm>
            <a:off x="720000" y="4140000"/>
            <a:ext cx="500000" cy="5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43" name="TextBox"/>
          <p:cNvSpPr txBox="1"/>
          <p:nvPr/>
        </p:nvSpPr>
        <p:spPr>
          <a:xfrm>
            <a:off x="820000" y="421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Shape"/>
          <p:cNvSpPr/>
          <p:nvPr/>
        </p:nvSpPr>
        <p:spPr>
          <a:xfrm>
            <a:off x="1350000" y="414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5" name="TextBox"/>
          <p:cNvSpPr txBox="1"/>
          <p:nvPr/>
        </p:nvSpPr>
        <p:spPr>
          <a:xfrm>
            <a:off x="1500000" y="419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?????? ??? loading ????? ?????????.</a:t>
            </a:r>
          </a:p>
        </p:txBody>
      </p:sp>
      <p:sp>
        <p:nvSpPr>
          <p:cNvPr id="46" name="Shape"/>
          <p:cNvSpPr/>
          <p:nvPr/>
        </p:nvSpPr>
        <p:spPr>
          <a:xfrm>
            <a:off x="720000" y="4730000"/>
            <a:ext cx="500000" cy="500000"/>
          </a:xfrm>
          <a:prstGeom prst="roundRect">
            <a:avLst/>
          </a:prstGeom>
          <a:solidFill>
            <a:srgbClr val="4C9E5C"/>
          </a:solidFill>
          <a:ln w="12700">
            <a:solidFill>
              <a:srgbClr val="4C9E5C"/>
            </a:solidFill>
          </a:ln>
        </p:spPr>
        <p:txBody>
          <a:bodyPr/>
          <a:lstStyle/>
          <a:p/>
        </p:txBody>
      </p:sp>
      <p:sp>
        <p:nvSpPr>
          <p:cNvPr id="47" name="TextBox"/>
          <p:cNvSpPr txBox="1"/>
          <p:nvPr/>
        </p:nvSpPr>
        <p:spPr>
          <a:xfrm>
            <a:off x="820000" y="480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Shape"/>
          <p:cNvSpPr/>
          <p:nvPr/>
        </p:nvSpPr>
        <p:spPr>
          <a:xfrm>
            <a:off x="1350000" y="473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9" name="TextBox"/>
          <p:cNvSpPr txBox="1"/>
          <p:nvPr/>
        </p:nvSpPr>
        <p:spPr>
          <a:xfrm>
            <a:off x="1500000" y="478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?????? ???????????? ????? ??????/????????????????? ??????? ????.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10. ?????? ?? ???????????????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???????? ????????? ?????? ???????.</a:t>
            </a:r>
          </a:p>
        </p:txBody>
      </p:sp>
      <p:sp>
        <p:nvSpPr>
          <p:cNvPr id="26" name="Bullets"/>
          <p:cNvSpPr txBox="1"/>
          <p:nvPr/>
        </p:nvSpPr>
        <p:spPr>
          <a:xfrm>
            <a:off x="800000" y="1780000"/>
            <a:ext cx="10000000" cy="41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/>
          <a:lstStyle/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 ?????? ????????? ????? ??????/???????? ?????/??? ??????????? ?????????? ?????? ??? 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 ???? ???? ??? ??????, ?????, ????? 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 ??? ????????? ????? ?????????????? action 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 ??? ??????? ?????? ??????/???????? ?????? ????????.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Dashboard ???? ???????? ??????, ??????? ????????, ??????? ????? ??? ????????????.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11. ??? ????????????? ?????? workflow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?????, ???????, ?????? ???, ??? ???? ????????.</a:t>
            </a:r>
          </a:p>
        </p:txBody>
      </p:sp>
      <p:sp>
        <p:nvSpPr>
          <p:cNvPr id="26" name="Shape"/>
          <p:cNvSpPr/>
          <p:nvPr/>
        </p:nvSpPr>
        <p:spPr>
          <a:xfrm>
            <a:off x="720000" y="1780000"/>
            <a:ext cx="500000" cy="5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7" name="TextBox"/>
          <p:cNvSpPr txBox="1"/>
          <p:nvPr/>
        </p:nvSpPr>
        <p:spPr>
          <a:xfrm>
            <a:off x="820000" y="185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Shape"/>
          <p:cNvSpPr/>
          <p:nvPr/>
        </p:nvSpPr>
        <p:spPr>
          <a:xfrm>
            <a:off x="1350000" y="178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29" name="TextBox"/>
          <p:cNvSpPr txBox="1"/>
          <p:nvPr/>
        </p:nvSpPr>
        <p:spPr>
          <a:xfrm>
            <a:off x="1500000" y="183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b/>
                <a:solidFill>
                  <a:srgbClr val="17231B"/>
                </a:solidFill>
              </a:rPr>
              <a:t>???? ????, ??? ????????????? ?????? ???????.</a:t>
            </a:r>
          </a:p>
        </p:txBody>
      </p:sp>
      <p:sp>
        <p:nvSpPr>
          <p:cNvPr id="30" name="Shape"/>
          <p:cNvSpPr/>
          <p:nvPr/>
        </p:nvSpPr>
        <p:spPr>
          <a:xfrm>
            <a:off x="720000" y="2370000"/>
            <a:ext cx="500000" cy="500000"/>
          </a:xfrm>
          <a:prstGeom prst="roundRect">
            <a:avLst/>
          </a:prstGeom>
          <a:solidFill>
            <a:srgbClr val="4C9E5C"/>
          </a:solidFill>
          <a:ln w="12700">
            <a:solidFill>
              <a:srgbClr val="4C9E5C"/>
            </a:solidFill>
          </a:ln>
        </p:spPr>
        <p:txBody>
          <a:bodyPr/>
          <a:lstStyle/>
          <a:p/>
        </p:txBody>
      </p:sp>
      <p:sp>
        <p:nvSpPr>
          <p:cNvPr id="31" name="TextBox"/>
          <p:cNvSpPr txBox="1"/>
          <p:nvPr/>
        </p:nvSpPr>
        <p:spPr>
          <a:xfrm>
            <a:off x="820000" y="244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Shape"/>
          <p:cNvSpPr/>
          <p:nvPr/>
        </p:nvSpPr>
        <p:spPr>
          <a:xfrm>
            <a:off x="1350000" y="237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3" name="TextBox"/>
          <p:cNvSpPr txBox="1"/>
          <p:nvPr/>
        </p:nvSpPr>
        <p:spPr>
          <a:xfrm>
            <a:off x="1500000" y="242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 ????????????? ??????? ????? ???????.</a:t>
            </a:r>
          </a:p>
        </p:txBody>
      </p:sp>
      <p:sp>
        <p:nvSpPr>
          <p:cNvPr id="34" name="Shape"/>
          <p:cNvSpPr/>
          <p:nvPr/>
        </p:nvSpPr>
        <p:spPr>
          <a:xfrm>
            <a:off x="720000" y="2960000"/>
            <a:ext cx="500000" cy="5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35" name="TextBox"/>
          <p:cNvSpPr txBox="1"/>
          <p:nvPr/>
        </p:nvSpPr>
        <p:spPr>
          <a:xfrm>
            <a:off x="820000" y="303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Shape"/>
          <p:cNvSpPr/>
          <p:nvPr/>
        </p:nvSpPr>
        <p:spPr>
          <a:xfrm>
            <a:off x="1350000" y="296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37" name="TextBox"/>
          <p:cNvSpPr txBox="1"/>
          <p:nvPr/>
        </p:nvSpPr>
        <p:spPr>
          <a:xfrm>
            <a:off x="1500000" y="301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 ???????.</a:t>
            </a:r>
          </a:p>
        </p:txBody>
      </p:sp>
      <p:sp>
        <p:nvSpPr>
          <p:cNvPr id="38" name="Shape"/>
          <p:cNvSpPr/>
          <p:nvPr/>
        </p:nvSpPr>
        <p:spPr>
          <a:xfrm>
            <a:off x="720000" y="3550000"/>
            <a:ext cx="500000" cy="500000"/>
          </a:xfrm>
          <a:prstGeom prst="roundRect">
            <a:avLst/>
          </a:prstGeom>
          <a:solidFill>
            <a:srgbClr val="4C9E5C"/>
          </a:solidFill>
          <a:ln w="12700">
            <a:solidFill>
              <a:srgbClr val="4C9E5C"/>
            </a:solidFill>
          </a:ln>
        </p:spPr>
        <p:txBody>
          <a:bodyPr/>
          <a:lstStyle/>
          <a:p/>
        </p:txBody>
      </p:sp>
      <p:sp>
        <p:nvSpPr>
          <p:cNvPr id="39" name="TextBox"/>
          <p:cNvSpPr txBox="1"/>
          <p:nvPr/>
        </p:nvSpPr>
        <p:spPr>
          <a:xfrm>
            <a:off x="820000" y="362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Shape"/>
          <p:cNvSpPr/>
          <p:nvPr/>
        </p:nvSpPr>
        <p:spPr>
          <a:xfrm>
            <a:off x="1350000" y="355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1" name="TextBox"/>
          <p:cNvSpPr txBox="1"/>
          <p:nvPr/>
        </p:nvSpPr>
        <p:spPr>
          <a:xfrm>
            <a:off x="1500000" y="360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???????/?????? ?????? ???? ???????.</a:t>
            </a:r>
          </a:p>
        </p:txBody>
      </p:sp>
      <p:sp>
        <p:nvSpPr>
          <p:cNvPr id="42" name="Shape"/>
          <p:cNvSpPr/>
          <p:nvPr/>
        </p:nvSpPr>
        <p:spPr>
          <a:xfrm>
            <a:off x="720000" y="4140000"/>
            <a:ext cx="500000" cy="5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43" name="TextBox"/>
          <p:cNvSpPr txBox="1"/>
          <p:nvPr/>
        </p:nvSpPr>
        <p:spPr>
          <a:xfrm>
            <a:off x="820000" y="421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Shape"/>
          <p:cNvSpPr/>
          <p:nvPr/>
        </p:nvSpPr>
        <p:spPr>
          <a:xfrm>
            <a:off x="1350000" y="414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5" name="TextBox"/>
          <p:cNvSpPr txBox="1"/>
          <p:nvPr/>
        </p:nvSpPr>
        <p:spPr>
          <a:xfrm>
            <a:off x="1500000" y="419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 ??????, ?????? ?????? ????? ????????? ???????? ???????.</a:t>
            </a:r>
          </a:p>
        </p:txBody>
      </p:sp>
      <p:sp>
        <p:nvSpPr>
          <p:cNvPr id="46" name="Shape"/>
          <p:cNvSpPr/>
          <p:nvPr/>
        </p:nvSpPr>
        <p:spPr>
          <a:xfrm>
            <a:off x="720000" y="4730000"/>
            <a:ext cx="500000" cy="500000"/>
          </a:xfrm>
          <a:prstGeom prst="roundRect">
            <a:avLst/>
          </a:prstGeom>
          <a:solidFill>
            <a:srgbClr val="4C9E5C"/>
          </a:solidFill>
          <a:ln w="12700">
            <a:solidFill>
              <a:srgbClr val="4C9E5C"/>
            </a:solidFill>
          </a:ln>
        </p:spPr>
        <p:txBody>
          <a:bodyPr/>
          <a:lstStyle/>
          <a:p/>
        </p:txBody>
      </p:sp>
      <p:sp>
        <p:nvSpPr>
          <p:cNvPr id="47" name="TextBox"/>
          <p:cNvSpPr txBox="1"/>
          <p:nvPr/>
        </p:nvSpPr>
        <p:spPr>
          <a:xfrm>
            <a:off x="820000" y="480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Shape"/>
          <p:cNvSpPr/>
          <p:nvPr/>
        </p:nvSpPr>
        <p:spPr>
          <a:xfrm>
            <a:off x="1350000" y="473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49" name="TextBox"/>
          <p:cNvSpPr txBox="1"/>
          <p:nvPr/>
        </p:nvSpPr>
        <p:spPr>
          <a:xfrm>
            <a:off x="1500000" y="478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???????? ?????? ???? ????? ????????? ??? ?????? ??????? ?????????? ?????.</a:t>
            </a:r>
          </a:p>
        </p:txBody>
      </p:sp>
      <p:sp>
        <p:nvSpPr>
          <p:cNvPr id="50" name="Shape"/>
          <p:cNvSpPr/>
          <p:nvPr/>
        </p:nvSpPr>
        <p:spPr>
          <a:xfrm>
            <a:off x="720000" y="5320000"/>
            <a:ext cx="500000" cy="5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51" name="TextBox"/>
          <p:cNvSpPr txBox="1"/>
          <p:nvPr/>
        </p:nvSpPr>
        <p:spPr>
          <a:xfrm>
            <a:off x="820000" y="5392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ctr"/>
            <a:r>
              <a:rPr lang="mn-MN" sz="1850" dirty="0">
                <a:b/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2" name="Shape"/>
          <p:cNvSpPr/>
          <p:nvPr/>
        </p:nvSpPr>
        <p:spPr>
          <a:xfrm>
            <a:off x="1350000" y="5320000"/>
            <a:ext cx="950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9DA"/>
            </a:solidFill>
          </a:ln>
        </p:spPr>
        <p:txBody>
          <a:bodyPr/>
          <a:lstStyle/>
          <a:p/>
        </p:txBody>
      </p:sp>
      <p:sp>
        <p:nvSpPr>
          <p:cNvPr id="53" name="TextBox"/>
          <p:cNvSpPr txBox="1"/>
          <p:nvPr/>
        </p:nvSpPr>
        <p:spPr>
          <a:xfrm>
            <a:off x="1500000" y="5370000"/>
            <a:ext cx="91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580" dirty="0">
                <a:solidFill>
                  <a:srgbClr val="17231B"/>
                </a:solidFill>
              </a:rPr>
              <a:t>????? ?????? ?????/??? data ?????? ????????? ???? ???????? ?????? ??????? ???????.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12. ??????, ????????? ???????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????????? ????? ???????? ????? ????? ???? ?????? ??????.</a:t>
            </a:r>
          </a:p>
        </p:txBody>
      </p:sp>
      <p:sp>
        <p:nvSpPr>
          <p:cNvPr id="26" name="Bullets"/>
          <p:cNvSpPr txBox="1"/>
          <p:nvPr/>
        </p:nvSpPr>
        <p:spPr>
          <a:xfrm>
            <a:off x="800000" y="1780000"/>
            <a:ext cx="10000000" cy="41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/>
          <a:lstStyle/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??????, ????????? ?????? ?????? ????? ?????? ??????? 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 ?????????? ???? ?????? ???? ?????? ???, ???? ??, ????????? ???? ?????????.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????????? ??? ???? ??? ???, ?????? ?????? ???, ??????? ???? ?????? ?????????.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???????/??? ??????????? ??????? ??? ??????? 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???????? ?????/?????? ?????? ???????? ??????? ? ?????.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13. ????????? ?? ????????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????? ????, ????? ?????, ?????? ?????.</a:t>
            </a:r>
          </a:p>
        </p:txBody>
      </p:sp>
      <p:sp>
        <p:nvSpPr>
          <p:cNvPr id="26" name="Bullets"/>
          <p:cNvSpPr txBox="1"/>
          <p:nvPr/>
        </p:nvSpPr>
        <p:spPr>
          <a:xfrm>
            <a:off x="800000" y="1780000"/>
            <a:ext cx="10000000" cy="41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/>
          <a:lstStyle/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????????? ???? ????? ????? ????? ????? view-??? ???? ?????????.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Timeline/card ???? ??????? ?????? ????????? ??????????? ??? 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Bell icon ???? ???? ???? ????? ????????????? 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 ????/??????? ?????????? notification ???? 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Browser notification ????????? ??????? ??? Chrome permission popup ???? Allow ?????.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14. ????????: ???, ???????, ?????? ???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?????? ?????? ????????? ??????????.</a:t>
            </a:r>
          </a:p>
        </p:txBody>
      </p:sp>
      <p:sp>
        <p:nvSpPr>
          <p:cNvPr id="26" name="Bullets"/>
          <p:cNvSpPr txBox="1"/>
          <p:nvPr/>
        </p:nvSpPr>
        <p:spPr>
          <a:xfrm>
            <a:off x="800000" y="1780000"/>
            <a:ext cx="10000000" cy="41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/>
          <a:lstStyle/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???????/???????? ????? ??? 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 ????????? ?????? ??? ????? ?????? ????????? 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 ????? ????? ???? ?????? ????? ??????? ?????? 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??????? ???? ?????? ???, ?????, ??? ??????? ????????.</a:t>
            </a:r>
          </a:p>
          <a:p>
            <a:pPr marL="280000" indent="-180000">
              <a:buChar char="?"/>
              <a:buClr>
                <a:srgbClr val="2E7D32"/>
              </a:buClr>
            </a:pPr>
            <a:r>
              <a:rPr lang="mn-MN" sz="1850" dirty="0">
                <a:solidFill>
                  <a:srgbClr val="17231B"/>
                </a:solidFill>
              </a:rPr>
              <a:t>????? ????????? ?????????? ??? ??????? ????????, ?????? ?????? ????? ???????? ?????.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6"/>
          </a:solidFill>
          <a:ln w="12700">
            <a:solidFill>
              <a:srgbClr val="F7FBF6"/>
            </a:solidFill>
          </a:ln>
        </p:spPr>
        <p:txBody>
          <a:bodyPr/>
          <a:lstStyle/>
          <a:p/>
        </p:txBody>
      </p:sp>
      <p:sp>
        <p:nvSpPr>
          <p:cNvPr id="21" name="Shap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22" name="TextBox"/>
          <p:cNvSpPr txBox="1"/>
          <p:nvPr/>
        </p:nvSpPr>
        <p:spPr>
          <a:xfrm>
            <a:off x="420000" y="96000"/>
            <a:ext cx="6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450" dirty="0">
                <a:b/>
                <a:solidFill>
                  <a:srgbClr val="FFFFFF"/>
                </a:solidFill>
              </a:rPr>
              <a:t>??? ?????????? ???????????? ??? ? TengerTech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0000" y="96000"/>
            <a:ext cx="1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300" dirty="0">
                <a:b/>
                <a:solidFill>
                  <a:srgbClr val="FFFFFF"/>
                </a:solidFill>
              </a:rPr>
              <a:t>ERP ??????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60000" y="760000"/>
            <a:ext cx="97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3100" dirty="0">
                <a:b/>
                <a:solidFill>
                  <a:srgbClr val="17231B"/>
                </a:solidFill>
              </a:rPr>
              <a:t>15. ???? ?????? ?????? checklist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80000" y="132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mn-MN" sz="1600" dirty="0">
                <a:solidFill>
                  <a:srgbClr val="5E6D63"/>
                </a:solidFill>
              </a:rPr>
              <a:t>???? ???????? ???? 2 ??????? ???????.</a:t>
            </a:r>
          </a:p>
        </p:txBody>
      </p:sp>
      <p:sp>
        <p:nvSpPr>
          <p:cNvPr id="26" name="Bullets"/>
          <p:cNvSpPr txBox="1"/>
          <p:nvPr/>
        </p:nvSpPr>
        <p:spPr>
          <a:xfrm>
            <a:off x="800000" y="1760000"/>
            <a:ext cx="100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/>
          <a:lstStyle/>
          <a:p>
            <a:pPr marL="280000" indent="-180000">
              <a:buChar char="?"/>
              <a:buClr>
                <a:srgbClr val="4C9E5C"/>
              </a:buClr>
            </a:pPr>
            <a:r>
              <a:rPr lang="mn-MN" sz="1750" dirty="0">
                <a:solidFill>
                  <a:srgbClr val="17231B"/>
                </a:solidFill>
              </a:rPr>
              <a:t>??? ???????????? ????????? ????</a:t>
            </a:r>
          </a:p>
          <a:p>
            <a:pPr marL="280000" indent="-180000">
              <a:buChar char="?"/>
              <a:buClr>
                <a:srgbClr val="4C9E5C"/>
              </a:buClr>
            </a:pPr>
            <a:r>
              <a:rPr lang="mn-MN" sz="1750" dirty="0">
                <a:solidFill>
                  <a:srgbClr val="17231B"/>
                </a:solidFill>
              </a:rPr>
              <a:t>?????? ??? ??????/?????? ???? ???????? ?????? ????</a:t>
            </a:r>
          </a:p>
          <a:p>
            <a:pPr marL="280000" indent="-180000">
              <a:buChar char="?"/>
              <a:buClr>
                <a:srgbClr val="4C9E5C"/>
              </a:buClr>
            </a:pPr>
            <a:r>
              <a:rPr lang="mn-MN" sz="1750" dirty="0">
                <a:solidFill>
                  <a:srgbClr val="17231B"/>
                </a:solidFill>
              </a:rPr>
              <a:t>???? ????/??????? ?????? ???? ??? role ???? ???????? ?????? ????</a:t>
            </a:r>
          </a:p>
          <a:p>
            <a:pPr marL="280000" indent="-180000">
              <a:buChar char="?"/>
              <a:buClr>
                <a:srgbClr val="4C9E5C"/>
              </a:buClr>
            </a:pPr>
            <a:r>
              <a:rPr lang="mn-MN" sz="1750" dirty="0">
                <a:solidFill>
                  <a:srgbClr val="17231B"/>
                </a:solidFill>
              </a:rPr>
              <a:t>????????? ???? notification ???? ?????? ????</a:t>
            </a:r>
          </a:p>
          <a:p>
            <a:pPr marL="280000" indent="-180000">
              <a:buChar char="?"/>
              <a:buClr>
                <a:srgbClr val="4C9E5C"/>
              </a:buClr>
            </a:pPr>
            <a:r>
              <a:rPr lang="mn-MN" sz="1750" dirty="0">
                <a:solidFill>
                  <a:srgbClr val="17231B"/>
                </a:solidFill>
              </a:rPr>
              <a:t>?????? ???????? loading, success, ????? ????????? ??? ????</a:t>
            </a:r>
          </a:p>
          <a:p>
            <a:pPr marL="280000" indent="-180000">
              <a:buChar char="?"/>
              <a:buClr>
                <a:srgbClr val="4C9E5C"/>
              </a:buClr>
            </a:pPr>
            <a:r>
              <a:rPr lang="mn-MN" sz="1750" dirty="0">
                <a:solidFill>
                  <a:srgbClr val="17231B"/>
                </a:solidFill>
              </a:rPr>
              <a:t>?????? ???? ??????? ????? ??? ??????????? ?????? ????</a:t>
            </a:r>
          </a:p>
          <a:p>
            <a:pPr marL="280000" indent="-180000">
              <a:buChar char="?"/>
              <a:buClr>
                <a:srgbClr val="4C9E5C"/>
              </a:buClr>
            </a:pPr>
            <a:r>
              <a:rPr lang="mn-MN" sz="1750" dirty="0">
                <a:solidFill>
                  <a:srgbClr val="17231B"/>
                </a:solidFill>
              </a:rPr>
              <a:t>??? ????????????? ?????/???????/??? data ??? ???????? ?????? ????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0700000" y="6220000"/>
            <a:ext cx="8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jc val="r"/>
            <a:r>
              <a:rPr lang="mn-MN" sz="1100" dirty="0">
                <a:solidFill>
                  <a:srgbClr val="5E6D63"/>
                </a:solidFill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ngerTech">
  <a:themeElements>
    <a:clrScheme name="TengerTech">
      <a:dk1>
        <a:srgbClr val="17231B"/>
      </a:dk1>
      <a:lt1>
        <a:srgbClr val="FFFFFF"/>
      </a:lt1>
      <a:dk2>
        <a:srgbClr val="5E6D63"/>
      </a:dk2>
      <a:lt2>
        <a:srgbClr val="F7FBF6"/>
      </a:lt2>
      <a:accent1>
        <a:srgbClr val="2E7D32"/>
      </a:accent1>
      <a:accent2>
        <a:srgbClr val="4C9E5C"/>
      </a:accent2>
      <a:accent3>
        <a:srgbClr val="A56A12"/>
      </a:accent3>
      <a:accent4>
        <a:srgbClr val="2878C8"/>
      </a:accent4>
      <a:accent5>
        <a:srgbClr val="C73838"/>
      </a:accent5>
      <a:accent6>
        <a:srgbClr val="8FBF8F"/>
      </a:accent6>
      <a:hlink>
        <a:srgbClr val="2878C8"/>
      </a:hlink>
      <a:folHlink>
        <a:srgbClr val="5E6D63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